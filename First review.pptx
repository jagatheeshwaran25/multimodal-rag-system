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2858729" y="1137293"/>
            <a:ext cx="6474542" cy="427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-3" y="6085020"/>
            <a:ext cx="5309758" cy="7378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Supervisor: </a:t>
            </a:r>
            <a:r>
              <a:rPr lang="en-IN" sz="2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 A.Priya , AP/CSE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386898" y="5061400"/>
            <a:ext cx="57540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 Members: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AutoNum type="arabicPeriod"/>
            </a:pPr>
            <a:r>
              <a:rPr b="1" lang="en-IN" sz="2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INBAN K                                727723EUCS077</a:t>
            </a:r>
            <a:endParaRPr b="1" sz="20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AutoNum type="arabicPeriod"/>
            </a:pPr>
            <a:r>
              <a:rPr b="1" lang="en-IN" sz="2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JAGATHEESHWARAN J    727723EUCS080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AutoNum type="arabicPeriod"/>
            </a:pPr>
            <a:r>
              <a:rPr b="1" lang="en-IN" sz="2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JAISHWANTH N</a:t>
            </a:r>
            <a:r>
              <a:rPr b="1" i="0" lang="en-IN" sz="2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IN" sz="2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727723EUCS082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AutoNum type="arabicPeriod"/>
            </a:pPr>
            <a:r>
              <a:rPr b="1" lang="en-IN" sz="2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MUKIL T M                           727724EUCS510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0" y="5749630"/>
            <a:ext cx="3962399" cy="4453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 No.: </a:t>
            </a:r>
            <a:r>
              <a:rPr lang="en-IN" sz="2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-3" y="6453960"/>
            <a:ext cx="3962399" cy="4453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 15/07/2026</a:t>
            </a:r>
            <a:r>
              <a:rPr b="0" i="0" lang="en-IN" sz="2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r>
              <a:rPr lang="en-IN" sz="2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r>
              <a:rPr b="0" i="0" lang="en-IN" sz="20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endParaRPr b="1" i="0" sz="20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2895600" y="2968927"/>
            <a:ext cx="6400800" cy="6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MULTIMODAL OFFLINE RETRIEVAL-AUGMENTED GENERATION (RAG) SYSTEM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2895600" y="1902524"/>
            <a:ext cx="6400800" cy="5584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Work Phase – I</a:t>
            </a:r>
            <a:endParaRPr/>
          </a:p>
        </p:txBody>
      </p:sp>
      <p:grpSp>
        <p:nvGrpSpPr>
          <p:cNvPr id="95" name="Google Shape;95;p13"/>
          <p:cNvGrpSpPr/>
          <p:nvPr/>
        </p:nvGrpSpPr>
        <p:grpSpPr>
          <a:xfrm>
            <a:off x="1430592" y="254935"/>
            <a:ext cx="9330816" cy="934675"/>
            <a:chOff x="1071716" y="272962"/>
            <a:chExt cx="9330816" cy="934675"/>
          </a:xfrm>
        </p:grpSpPr>
        <p:pic>
          <p:nvPicPr>
            <p:cNvPr id="96" name="Google Shape;96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71716" y="272962"/>
              <a:ext cx="8377084" cy="934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na University Logo" id="97" name="Google Shape;97;p13"/>
            <p:cNvPicPr preferRelativeResize="0"/>
            <p:nvPr/>
          </p:nvPicPr>
          <p:blipFill rotWithShape="1">
            <a:blip r:embed="rId4">
              <a:alphaModFix/>
            </a:blip>
            <a:srcRect b="10894" l="20439" r="20319" t="10338"/>
            <a:stretch/>
          </p:blipFill>
          <p:spPr>
            <a:xfrm>
              <a:off x="9571702" y="272962"/>
              <a:ext cx="830830" cy="82915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8" name="Google Shape;98;p13"/>
          <p:cNvSpPr txBox="1"/>
          <p:nvPr/>
        </p:nvSpPr>
        <p:spPr>
          <a:xfrm>
            <a:off x="5031658" y="2373462"/>
            <a:ext cx="2128684" cy="5584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None/>
            </a:pPr>
            <a:r>
              <a:t>First Review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/>
          </a:p>
        </p:txBody>
      </p:sp>
      <p:sp>
        <p:nvSpPr>
          <p:cNvPr id="104" name="Google Shape;104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Government Data: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Agencies handle massive text, image, scanned documents, and audio data.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Search Limitations: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Traditional search systems cannot retrieve information across multiple formats.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Security Constraints: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Secure environments cannot use cloud-based AI due to confidentiality.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Manual Analysis: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Manual inspection of documents and media is extremely time-consuming.</a:t>
            </a:r>
            <a:endParaRPr/>
          </a:p>
        </p:txBody>
      </p:sp>
      <p:sp>
        <p:nvSpPr>
          <p:cNvPr id="105" name="Google Shape;105;p14"/>
          <p:cNvSpPr txBox="1"/>
          <p:nvPr>
            <p:ph idx="11" type="ftr"/>
          </p:nvPr>
        </p:nvSpPr>
        <p:spPr>
          <a:xfrm>
            <a:off x="4038600" y="6311900"/>
            <a:ext cx="45720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| Dept. of CSE | PWP-I | Batch - IX (9) | First review |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15-07-2026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70408" y="0"/>
            <a:ext cx="2121592" cy="621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r>
              <a:t>Scope &amp; Objectives</a:t>
            </a:r>
          </a:p>
        </p:txBody>
      </p:sp>
      <p:sp>
        <p:nvSpPr>
          <p:cNvPr id="114" name="Google Shape;114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Multimodal Search: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Retrieve information from text, image, and audio files.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Semantic Retrieval: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Enable high-accuracy semantic search across all local formats.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Context Generation: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Generate context-aware responses using localized LLMs.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Offline Deployment: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Support localized deployment in restricted or secure environments.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Strategic Impact: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Improve overall decision-making speed and accuracy.</a:t>
            </a:r>
            <a:endParaRPr/>
          </a:p>
        </p:txBody>
      </p:sp>
      <p:sp>
        <p:nvSpPr>
          <p:cNvPr id="115" name="Google Shape;115;p1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| Dept. of | PWP-I | Batch - IX (9) | First review |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15-07-2026</a:t>
            </a:r>
            <a:endParaRPr/>
          </a:p>
        </p:txBody>
      </p:sp>
      <p:sp>
        <p:nvSpPr>
          <p:cNvPr id="117" name="Google Shape;11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18" name="Google Shape;11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70408" y="0"/>
            <a:ext cx="2121592" cy="621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Sustainable Development Goals - Mapping</a:t>
            </a:r>
            <a:endParaRPr/>
          </a:p>
        </p:txBody>
      </p:sp>
      <p:sp>
        <p:nvSpPr>
          <p:cNvPr id="124" name="Google Shape;124;p16"/>
          <p:cNvSpPr txBox="1"/>
          <p:nvPr>
            <p:ph idx="1" type="body"/>
          </p:nvPr>
        </p:nvSpPr>
        <p:spPr>
          <a:xfrm>
            <a:off x="9030929" y="3227104"/>
            <a:ext cx="2743200" cy="15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SDG 9: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Industry, Innovation and Infrastructure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15-07-2026</a:t>
            </a:r>
            <a:endParaRPr/>
          </a:p>
        </p:txBody>
      </p:sp>
      <p:sp>
        <p:nvSpPr>
          <p:cNvPr id="126" name="Google Shape;12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| Dept. of CSE | PWP-I | Batch - IX (9) | First review |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descr="Sustainable Development Goals | Elementary Education | Government Of Assam,  India" id="128" name="Google Shape;128;p16"/>
          <p:cNvPicPr preferRelativeResize="0"/>
          <p:nvPr/>
        </p:nvPicPr>
        <p:blipFill rotWithShape="1">
          <a:blip r:embed="rId3">
            <a:alphaModFix/>
          </a:blip>
          <a:srcRect b="2042" l="0" r="0" t="2287"/>
          <a:stretch/>
        </p:blipFill>
        <p:spPr>
          <a:xfrm>
            <a:off x="838200" y="2066899"/>
            <a:ext cx="7828301" cy="3913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70408" y="0"/>
            <a:ext cx="2121592" cy="621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/>
          </a:p>
        </p:txBody>
      </p:sp>
      <p:sp>
        <p:nvSpPr>
          <p:cNvPr id="135" name="Google Shape;135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Research Focus: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Study on RAG, semantic search, and multimodal retrieval methods.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Infrastructure Gap: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Existing retrieval systems depend heavily on cloud infrastructure.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Key Paper 1: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Retrieval-Augmented Generation for Knowledge-Intensive NLP Tasks (202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Key Paper 2: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Retrieval-Augmented Generation for Large Language Models: A Survey (202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| Dept. of CSE | PWP-I | Batch - IX (9) | First review |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15-07-2026</a:t>
            </a:r>
            <a:endParaRPr/>
          </a:p>
        </p:txBody>
      </p:sp>
      <p:sp>
        <p:nvSpPr>
          <p:cNvPr id="138" name="Google Shape;13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70408" y="0"/>
            <a:ext cx="2121592" cy="621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Existing Technology</a:t>
            </a:r>
            <a:endParaRPr/>
          </a:p>
        </p:txBody>
      </p:sp>
      <p:sp>
        <p:nvSpPr>
          <p:cNvPr id="145" name="Google Shape;145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Keyword-Based: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Traditional search systems rely on simple keyword matches.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Cloud Assistants: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Common AI assistants require cloud-based API infrastructure.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OCR &amp; Speech: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Standard OCR and speech processing tools are disjoint and manual.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Major Limitations: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Poor contextual understanding, internet dependency, and data security concerns.</a:t>
            </a:r>
            <a:endParaRPr/>
          </a:p>
        </p:txBody>
      </p:sp>
      <p:sp>
        <p:nvSpPr>
          <p:cNvPr id="146" name="Google Shape;14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| Dept. of CSE | PWP-I | Batch - IX (9) | First review |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15-07-2026</a:t>
            </a:r>
            <a:endParaRPr/>
          </a:p>
        </p:txBody>
      </p:sp>
      <p:sp>
        <p:nvSpPr>
          <p:cNvPr id="148" name="Google Shape;14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49" name="Google Shape;1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70408" y="0"/>
            <a:ext cx="2121592" cy="621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type="title"/>
          </p:nvPr>
        </p:nvSpPr>
        <p:spPr>
          <a:xfrm>
            <a:off x="838200" y="2063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r>
              <a:t>System Workflow &amp; Interface</a:t>
            </a:r>
          </a:p>
        </p:txBody>
      </p:sp>
      <p:sp>
        <p:nvSpPr>
          <p:cNvPr id="155" name="Google Shape;155;p19"/>
          <p:cNvSpPr txBox="1"/>
          <p:nvPr>
            <p:ph idx="1" type="body"/>
          </p:nvPr>
        </p:nvSpPr>
        <p:spPr>
          <a:xfrm>
            <a:off x="838200" y="1572113"/>
            <a:ext cx="10348200" cy="47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/>
        </p:txBody>
      </p:sp>
      <p:sp>
        <p:nvSpPr>
          <p:cNvPr id="156" name="Google Shape;15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| Dept. of CSE | PWP-I | Batch - IX (9) | First review |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15-07-2026</a:t>
            </a:r>
            <a:endParaRPr/>
          </a:p>
        </p:txBody>
      </p:sp>
      <p:sp>
        <p:nvSpPr>
          <p:cNvPr id="158" name="Google Shape;158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59" name="Google Shape;15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70408" y="0"/>
            <a:ext cx="2121592" cy="621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Picture 159" descr="project_workflow_diagram_178404085176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645920"/>
            <a:ext cx="5120640" cy="3840480"/>
          </a:xfrm>
          <a:prstGeom prst="rect">
            <a:avLst/>
          </a:prstGeom>
        </p:spPr>
      </p:pic>
      <p:pic>
        <p:nvPicPr>
          <p:cNvPr id="161" name="Picture 160" descr="ui_dashboard_mockup_178404087737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645920"/>
            <a:ext cx="512064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r>
              <a:t>Work Accomplished (Implementation)</a:t>
            </a:r>
          </a:p>
        </p:txBody>
      </p:sp>
      <p:sp>
        <p:nvSpPr>
          <p:cNvPr id="165" name="Google Shape;165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r>
              <a:t>• Module 1 (Image Ingestion): Secure upload portal and SQLite metadata database registry.</a:t>
            </a:r>
          </a:p>
          <a:p>
            <a:r>
              <a:t>• Module 2 (OCR): OpenCV preprocessing filters (CLAHE, Hough line deskewing), Tesseract layout TSV grid parsing, DCS confidence scoring, and bounding box overlays.</a:t>
            </a:r>
          </a:p>
          <a:p>
            <a:r>
              <a:t>• Module 3 (Chunking): OCR text layout sanitizers and Recursive text chunking (500 size, 50 overlap).</a:t>
            </a:r>
          </a:p>
          <a:p>
            <a:r>
              <a:t>• Module 4 (Vector Index): HuggingFace embedding calculator and persistent ChromaDB collection indexing, with a Native SQLite Vector similarity store fallback.</a:t>
            </a:r>
          </a:p>
          <a:p>
            <a:r>
              <a:t>• Modules 5 &amp; 6 (RAG Chat UI): Local Ollama Llama 3 connector, dynamic context prompt compiler, collapsible source citations, and mock responder fallbacks.</a:t>
            </a:r>
          </a:p>
        </p:txBody>
      </p:sp>
      <p:sp>
        <p:nvSpPr>
          <p:cNvPr id="166" name="Google Shape;16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| Dept. of CSE | PWP-I | Batch - IX (9) | First review |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15-07-2026</a:t>
            </a:r>
            <a:endParaRPr/>
          </a:p>
        </p:txBody>
      </p:sp>
      <p:sp>
        <p:nvSpPr>
          <p:cNvPr id="168" name="Google Shape;168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69" name="Google Shape;16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70408" y="0"/>
            <a:ext cx="2121592" cy="621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r>
              <a:t>Technologies &amp; Tech Stack Used</a:t>
            </a:r>
          </a:p>
        </p:txBody>
      </p:sp>
      <p:sp>
        <p:nvSpPr>
          <p:cNvPr id="175" name="Google Shape;175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r>
              <a:t>• Backend Framework: FastAPI (Python 3.12) asynchronous REST API services.</a:t>
            </a:r>
          </a:p>
          <a:p>
            <a:r>
              <a:t>• Frontend Dashboard: React 18, Vite Bundler, and custom dark-mode CSS tokens.</a:t>
            </a:r>
          </a:p>
          <a:p>
            <a:r>
              <a:t>• Image Processing &amp; OCR: OpenCV (binarization/straightener) &amp; Tesseract OCR engine.</a:t>
            </a:r>
          </a:p>
          <a:p>
            <a:r>
              <a:t>• Vector Embeddings Model: Sentence-Transformers (BAAI/bge-base-en-v1.5).</a:t>
            </a:r>
          </a:p>
          <a:p>
            <a:r>
              <a:t>• Vector Database: ChromaDB &amp; Native SQLite Vector Store (numpy cosine searches).</a:t>
            </a:r>
          </a:p>
          <a:p>
            <a:r>
              <a:t>• Local Language Model (LLM): Ollama runner (quantized Llama 3 8B model).</a:t>
            </a:r>
          </a:p>
          <a:p>
            <a:r>
              <a:t>• Metadata Store: SQLite embedded database ledger.</a:t>
            </a:r>
          </a:p>
        </p:txBody>
      </p:sp>
      <p:sp>
        <p:nvSpPr>
          <p:cNvPr id="176" name="Google Shape;17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| Dept. of CSE | PWP-I | Batch - IX (9) | First review |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15-07-2026</a:t>
            </a:r>
            <a:endParaRPr/>
          </a:p>
        </p:txBody>
      </p:sp>
      <p:sp>
        <p:nvSpPr>
          <p:cNvPr id="178" name="Google Shape;17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79" name="Google Shape;17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70408" y="0"/>
            <a:ext cx="2121592" cy="621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r>
              <a:t>Expected Outcomes &amp; Future Roadmap</a:t>
            </a:r>
          </a:p>
        </p:txBody>
      </p:sp>
      <p:sp>
        <p:nvSpPr>
          <p:cNvPr id="185" name="Google Shape;185;p22"/>
          <p:cNvSpPr txBox="1"/>
          <p:nvPr>
            <p:ph idx="1" type="body"/>
          </p:nvPr>
        </p:nvSpPr>
        <p:spPr>
          <a:xfrm>
            <a:off x="838200" y="1825625"/>
            <a:ext cx="10515600" cy="28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r>
              <a:t>• Deliverable Outcome: Secure, 100% offline on-premises document intelligence system, protecting classified information on secure air-gapped networks.</a:t>
            </a:r>
          </a:p>
          <a:p>
            <a:r>
              <a:t>• Future Phase 2 (PDF Documents): Multi-page PDF text extraction and tabular markdown data parsing using pdfplumber/camelot-py. (Timeline: Weeks 7-8)</a:t>
            </a:r>
          </a:p>
          <a:p>
            <a:r>
              <a:t>• Future Phase 3 (Audio Documents): Local speech-to-text transcript generator using quantized OpenAI Whisper. (Timeline: Weeks 9-10)</a:t>
            </a:r>
          </a:p>
          <a:p>
            <a:r>
              <a:t>• Future Phase 4 (Unified Chat): Integrated cross-media querying across PDF manuals, scan images, and audio briefings. (Timeline: Weeks 11-12)</a:t>
            </a:r>
          </a:p>
        </p:txBody>
      </p:sp>
      <p:sp>
        <p:nvSpPr>
          <p:cNvPr id="186" name="Google Shape;186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| Dept. of CSE | PWP-I | Batch - IX (9) | First review |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15-07-2026</a:t>
            </a:r>
            <a:endParaRPr/>
          </a:p>
        </p:txBody>
      </p:sp>
      <p:sp>
        <p:nvSpPr>
          <p:cNvPr id="188" name="Google Shape;18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89" name="Google Shape;18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70408" y="0"/>
            <a:ext cx="2121592" cy="621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Reference(s)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23"/>
          <p:cNvSpPr txBox="1"/>
          <p:nvPr>
            <p:ph idx="1" type="body"/>
          </p:nvPr>
        </p:nvSpPr>
        <p:spPr>
          <a:xfrm>
            <a:off x="1040925" y="2022650"/>
            <a:ext cx="10515600" cy="20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Retrieval-Augmented Generation for Knowledge-Intensive NLP Tasks (202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Retrieval-Augmented Generation for Large Language Models: A Survey (202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0" lang="en-IN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  <p:sp>
        <p:nvSpPr>
          <p:cNvPr id="196" name="Google Shape;196;p2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>| Dept. of CSE | PWP-I | Batch - IX (9) | First review |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15-07-2026</a:t>
            </a:r>
            <a:endParaRPr/>
          </a:p>
        </p:txBody>
      </p:sp>
      <p:sp>
        <p:nvSpPr>
          <p:cNvPr id="198" name="Google Shape;19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99" name="Google Shape;19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70408" y="0"/>
            <a:ext cx="2121592" cy="621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