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858729" y="1137293"/>
            <a:ext cx="6474542" cy="427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-3" y="6085020"/>
            <a:ext cx="5309758" cy="737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Supervisor: </a:t>
            </a:r>
            <a:r>
              <a:rPr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A.Priya , AP/CSE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386898" y="5061400"/>
            <a:ext cx="57540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Members: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AutoNum type="arabicPeriod"/>
            </a:pPr>
            <a:r>
              <a:rPr b="1"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INBAN K                                727723EUCS077</a:t>
            </a:r>
            <a:endParaRPr b="1" sz="20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AutoNum type="arabicPeriod"/>
            </a:pPr>
            <a:r>
              <a:rPr b="1"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JAGATHEESHWARAN J    727723EUCS080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AutoNum type="arabicPeriod"/>
            </a:pPr>
            <a:r>
              <a:rPr b="1"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JAISHWANTH N</a:t>
            </a:r>
            <a:r>
              <a:rPr b="1" i="0" lang="en-IN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727723EUCS082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AutoNum type="arabicPeriod"/>
            </a:pPr>
            <a:r>
              <a:rPr b="1"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MUKIL T M                           727724EUCS510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0" y="5749630"/>
            <a:ext cx="3962399" cy="445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No.: </a:t>
            </a:r>
            <a:r>
              <a:rPr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-3" y="6453960"/>
            <a:ext cx="3962399" cy="445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b="0" i="0" lang="en-IN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IN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/06/2026</a:t>
            </a:r>
            <a:endParaRPr b="1" i="0" sz="20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895600" y="2968927"/>
            <a:ext cx="6400800" cy="6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OFFLINE RETRIEVAL-AUGMENTED GENERATION (RAG) SYSTEM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895600" y="1902524"/>
            <a:ext cx="6400800" cy="558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Work Phase – I</a:t>
            </a:r>
            <a:endParaRPr/>
          </a:p>
        </p:txBody>
      </p:sp>
      <p:grpSp>
        <p:nvGrpSpPr>
          <p:cNvPr id="95" name="Google Shape;95;p13"/>
          <p:cNvGrpSpPr/>
          <p:nvPr/>
        </p:nvGrpSpPr>
        <p:grpSpPr>
          <a:xfrm>
            <a:off x="1430592" y="254935"/>
            <a:ext cx="9330816" cy="934675"/>
            <a:chOff x="1071716" y="272962"/>
            <a:chExt cx="9330816" cy="934675"/>
          </a:xfrm>
        </p:grpSpPr>
        <p:pic>
          <p:nvPicPr>
            <p:cNvPr id="96" name="Google Shape;9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71716" y="272962"/>
              <a:ext cx="8377084" cy="934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na University Logo" id="97" name="Google Shape;97;p13"/>
            <p:cNvPicPr preferRelativeResize="0"/>
            <p:nvPr/>
          </p:nvPicPr>
          <p:blipFill rotWithShape="1">
            <a:blip r:embed="rId4">
              <a:alphaModFix/>
            </a:blip>
            <a:srcRect b="10894" l="20439" r="20319" t="10338"/>
            <a:stretch/>
          </p:blipFill>
          <p:spPr>
            <a:xfrm>
              <a:off x="9571702" y="272962"/>
              <a:ext cx="830830" cy="8291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3"/>
          <p:cNvSpPr txBox="1"/>
          <p:nvPr/>
        </p:nvSpPr>
        <p:spPr>
          <a:xfrm>
            <a:off x="5031658" y="2373462"/>
            <a:ext cx="2128684" cy="558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Zeroth Review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Government Data: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Agencies handle massive text, image, scanned documents, and audio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Search Limitations: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Traditional search systems cannot retrieve information across multiple formats.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Security Constraints: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Secure environments cannot use cloud-based AI due to confidentiality.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Manual Analysis: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Manual inspection of documents and media is extremely time-consuming.</a:t>
            </a:r>
            <a:endParaRPr/>
          </a:p>
        </p:txBody>
      </p:sp>
      <p:sp>
        <p:nvSpPr>
          <p:cNvPr id="105" name="Google Shape;105;p14"/>
          <p:cNvSpPr txBox="1"/>
          <p:nvPr>
            <p:ph idx="11" type="ftr"/>
          </p:nvPr>
        </p:nvSpPr>
        <p:spPr>
          <a:xfrm>
            <a:off x="4038600" y="6311900"/>
            <a:ext cx="4572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| Dept. of CSE | PWP-I | Batch - [Batch No - IX.] | Zeroth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23-06-2026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Multimodal Search: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Retrieve information from text, image, and audio files.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Semantic Retrieval: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Enable high-accuracy semantic search across all local formats.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Context Generation: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Generate context-aware responses using localized LLMs.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Offline Deployment: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Support localized deployment in restricted or secure environments.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Strategic Impact: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Improve overall decision-making speed and accuracy.</a:t>
            </a:r>
            <a:endParaRPr/>
          </a:p>
        </p:txBody>
      </p:sp>
      <p:sp>
        <p:nvSpPr>
          <p:cNvPr id="115" name="Google Shape;115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| Dept. of | PWP-I | Batch - [Batch No - IX.] | Zeroth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23-06-2026</a:t>
            </a:r>
            <a:endParaRPr/>
          </a:p>
        </p:txBody>
      </p:sp>
      <p:sp>
        <p:nvSpPr>
          <p:cNvPr id="117" name="Google Shape;11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Sustainable Development Goals - Mapping</a:t>
            </a:r>
            <a:endParaRPr/>
          </a:p>
        </p:txBody>
      </p:sp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9030929" y="3227104"/>
            <a:ext cx="2743200" cy="15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SDG 9: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Industry, Innovation and Infrastructure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23-06-2026</a:t>
            </a:r>
            <a:endParaRPr/>
          </a:p>
        </p:txBody>
      </p:sp>
      <p:sp>
        <p:nvSpPr>
          <p:cNvPr id="126" name="Google Shape;1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| Dept. of CSE | PWP-I | Batch - [Batch No - IX] | Zeroth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Sustainable Development Goals | Elementary Education | Government Of Assam,  India" id="128" name="Google Shape;128;p16"/>
          <p:cNvPicPr preferRelativeResize="0"/>
          <p:nvPr/>
        </p:nvPicPr>
        <p:blipFill rotWithShape="1">
          <a:blip r:embed="rId3">
            <a:alphaModFix/>
          </a:blip>
          <a:srcRect b="2042" l="0" r="0" t="2287"/>
          <a:stretch/>
        </p:blipFill>
        <p:spPr>
          <a:xfrm>
            <a:off x="838200" y="2066899"/>
            <a:ext cx="7828301" cy="3913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/>
          </a:p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Research Focus: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Study on RAG, semantic search, and multimodal retrieval methods.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Infrastructure Gap: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Existing retrieval systems depend heavily on cloud infrastructure.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Key Paper 1: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for Knowledge-Intensive NLP Tasks (202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Key Paper 2: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for Large Language Models: A Survey (202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| Dept. of CSE | PWP-I | Batch - [Batch No - IX] | Zeroth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23-06-2026</a:t>
            </a:r>
            <a:endParaRPr/>
          </a:p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Existing Technology</a:t>
            </a:r>
            <a:endParaRPr/>
          </a:p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Keyword-Based: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Traditional search systems rely on simple keyword matches.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Cloud Assistants: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Common AI assistants require cloud-based API infrastructure.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OCR &amp; Speech: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Standard OCR and speech processing tools are disjoint and manual.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Major Limitations: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Poor contextual understanding, internet dependency, and data security concerns.</a:t>
            </a:r>
            <a:endParaRPr/>
          </a:p>
        </p:txBody>
      </p:sp>
      <p:sp>
        <p:nvSpPr>
          <p:cNvPr id="146" name="Google Shape;14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| Dept. of CSE | PWP-I | Batch - [Batch No - IX] | Zeroth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23-06-2026</a:t>
            </a:r>
            <a:endParaRPr/>
          </a:p>
        </p:txBody>
      </p:sp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838200" y="2063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Proposed Work/ Methodology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838200" y="1572113"/>
            <a:ext cx="10348200" cy="47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OCR Processing: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Tesseract OCR for image and scanned document text extraction.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Speech Processing: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Whisper model for speech-to-text conversion of audio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Vector Storage: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ChromaDB/FAISS for local vector storage of embeddings.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Semantic Retrieval: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(RAG) architecture.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Answer Generation: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Local Llama 3 model for secure, offline response generation.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System Workflow: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Documents/Images/Audio → OCR &amp; Speech Processing → Text Extraction → Embeddings → Vector Database → Retrieval → Local LLM → Response Generation</a:t>
            </a:r>
            <a:endParaRPr/>
          </a:p>
        </p:txBody>
      </p:sp>
      <p:sp>
        <p:nvSpPr>
          <p:cNvPr id="156" name="Google Shape;15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| Dept. of CSE | PWP-I | Batch - [Batch No - IX] | Zeroth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23-06-2026</a:t>
            </a:r>
            <a:endParaRPr/>
          </a:p>
        </p:txBody>
      </p:sp>
      <p:sp>
        <p:nvSpPr>
          <p:cNvPr id="158" name="Google Shape;15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Expected Outcomes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Accurate Retrieval: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High-precision multimodal search across multiple formats.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Faster Analysis: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Reduced time-to-insight for document analysis.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Reduced Effort: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Automation of manual document search and categorization.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Enhanced Security: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Full offline execution ensures confidential data protection.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Decision Support: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Accurate, context-aware information for better decision-making.</a:t>
            </a:r>
            <a:endParaRPr/>
          </a:p>
        </p:txBody>
      </p:sp>
      <p:sp>
        <p:nvSpPr>
          <p:cNvPr id="166" name="Google Shape;1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| Dept. of CSE | PWP-I | Batch - [Batch No - IX] | Zeroth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23-06-2026</a:t>
            </a:r>
            <a:endParaRPr/>
          </a:p>
        </p:txBody>
      </p:sp>
      <p:sp>
        <p:nvSpPr>
          <p:cNvPr id="168" name="Google Shape;16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Time frame/ Schedule for completion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Week 1–2: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Week 3–4: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Requirement Analysis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Week 5–6: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OCR &amp; Audio Module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Week 7–8: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RAG Developmen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Week 9–10: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Week 11–12: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Documentation</a:t>
            </a:r>
            <a:endParaRPr/>
          </a:p>
        </p:txBody>
      </p:sp>
      <p:sp>
        <p:nvSpPr>
          <p:cNvPr id="176" name="Google Shape;17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| Dept. of CSE | PWP-I | Batch - [Batch No - IX] | Zeroth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23-06-2026</a:t>
            </a:r>
            <a:endParaRPr/>
          </a:p>
        </p:txBody>
      </p:sp>
      <p:sp>
        <p:nvSpPr>
          <p:cNvPr id="178" name="Google Shape;17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Budget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838200" y="1825625"/>
            <a:ext cx="10515600" cy="28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Software: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Open-source software (Llama 3, Whisper, Tesseract OCR, ChromaDB/FAISS).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Hardware: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Local laptop/workstation for development.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Deployment: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Offline storage and deployment environment.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Support: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Academic guidance and Smart India Hackathon (SIH) support.</a:t>
            </a:r>
            <a:endParaRPr/>
          </a:p>
        </p:txBody>
      </p:sp>
      <p:sp>
        <p:nvSpPr>
          <p:cNvPr id="186" name="Google Shape;18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| Dept. of CSE | PWP-I | Batch - [Batch No - IX] | Zeroth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23-06-2026</a:t>
            </a:r>
            <a:endParaRPr/>
          </a:p>
        </p:txBody>
      </p:sp>
      <p:sp>
        <p:nvSpPr>
          <p:cNvPr id="188" name="Google Shape;18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Reference(s)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1040925" y="2022650"/>
            <a:ext cx="10515600" cy="20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for Knowledge-Intensive NLP Tasks (202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for Large Language Models: A Survey (202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196" name="Google Shape;196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| Dept. of CSE | PWP-I | Batch - [Batch No - IX] | Zeroth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23-06-2026</a:t>
            </a:r>
            <a:endParaRPr/>
          </a:p>
        </p:txBody>
      </p:sp>
      <p:sp>
        <p:nvSpPr>
          <p:cNvPr id="198" name="Google Shape;19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99" name="Google Shape;1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